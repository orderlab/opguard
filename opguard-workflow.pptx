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9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4C0B-72AB-2346-8B71-E7168B90E0B9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5CC1B-2189-E741-AD7E-AB718C250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9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95BE-7156-735F-5BE0-B352746E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DC13E-9037-0AD9-B148-325E68C55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CB7E1-3AF4-64AE-6737-CAFE73027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workflow of </a:t>
            </a:r>
            <a:r>
              <a:rPr lang="en-US" dirty="0" err="1"/>
              <a:t>OpGuard</a:t>
            </a:r>
            <a:r>
              <a:rPr lang="en-US" dirty="0"/>
              <a:t>.</a:t>
            </a:r>
          </a:p>
          <a:p>
            <a:r>
              <a:rPr lang="en-US" dirty="0"/>
              <a:t>There are four steps.</a:t>
            </a:r>
          </a:p>
          <a:p>
            <a:r>
              <a:rPr lang="en-US" dirty="0"/>
              <a:t>First, </a:t>
            </a:r>
            <a:r>
              <a:rPr lang="en-US" b="1" dirty="0"/>
              <a:t>determinism control</a:t>
            </a:r>
            <a:r>
              <a:rPr lang="en-US" dirty="0"/>
              <a:t>. As we said, we do not force the entire world to be deterministic. But We do control the nondeterminism that might change bits.</a:t>
            </a:r>
          </a:p>
          <a:p>
            <a:r>
              <a:rPr lang="en-US" dirty="0"/>
              <a:t>Second, </a:t>
            </a:r>
            <a:r>
              <a:rPr lang="en-US" b="1" dirty="0"/>
              <a:t>preflight</a:t>
            </a:r>
            <a:r>
              <a:rPr lang="en-US" dirty="0"/>
              <a:t>. We run a few iterations — roughly five — to discover stable Ops of our interest.</a:t>
            </a:r>
          </a:p>
          <a:p>
            <a:r>
              <a:rPr lang="en-US" dirty="0"/>
              <a:t>Third, </a:t>
            </a:r>
            <a:r>
              <a:rPr lang="en-US" b="1" dirty="0"/>
              <a:t>guarded replay</a:t>
            </a:r>
            <a:r>
              <a:rPr lang="en-US" dirty="0"/>
              <a:t>. We run the suspect and reference runs, and we collect compact fingerprints at Op boundaries.</a:t>
            </a:r>
          </a:p>
          <a:p>
            <a:r>
              <a:rPr lang="en-US" dirty="0"/>
              <a:t>Fourth, </a:t>
            </a:r>
            <a:r>
              <a:rPr lang="en-US" b="1" dirty="0"/>
              <a:t>offline alignment</a:t>
            </a:r>
            <a:r>
              <a:rPr lang="en-US" dirty="0"/>
              <a:t>. We align the Ops across the two runs and find the first mismatch.</a:t>
            </a:r>
          </a:p>
          <a:p>
            <a:endParaRPr lang="en-US" dirty="0"/>
          </a:p>
          <a:p>
            <a:r>
              <a:rPr lang="en-US" dirty="0"/>
              <a:t>The important thing here is that </a:t>
            </a:r>
            <a:r>
              <a:rPr lang="en-US" dirty="0" err="1"/>
              <a:t>OpGuard</a:t>
            </a:r>
            <a:r>
              <a:rPr lang="en-US" dirty="0"/>
              <a:t> does not require the two runs to have identical execution traces. They can use different schedules, different frameworks, different optimizations, as long as they implement the same model computation.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Due to time constraint, we’ll only talk about 1,2,4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138D4-3C6E-4FAF-0F1E-B23542E9C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2A06E-09AF-E343-A548-EE8E6D0901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3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242D6-1D72-1E18-EB28-F72A13399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EBFF7-08F6-418F-74F1-88EAEA89B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BC94D-8C74-56CA-9B65-CEECB6D7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4FDB2-76F0-8BB4-79BA-A7A348E8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26A0-2C0B-107D-8A35-3F627DB3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7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DA1-F221-C7FE-8771-B43F8ED9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B996-C844-E162-AF5E-B74C016BE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EE9D2-8EB9-9D5E-F776-D355DBE7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3DE52-0D74-ABF8-59C9-A0BB40B2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C94E-6008-CB39-90D1-58EEB3A4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3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B938-34D5-7528-18C8-9040766D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47FA6-F52A-E89D-5D21-4145F5B1E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94A6C-3A68-5F3C-A013-209F6CFD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E50B0-231F-FC1A-5B13-68F8FC74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CF81-C664-C727-9521-F637F20C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4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F519-670A-FADF-890D-9B643082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F228-FE53-64DE-2A44-487DC1930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E285A-C49B-E814-6B4E-820F8375D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FE4B9-F232-4FFB-9076-C1AE9E24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536A2-E57D-FEDA-E278-DED26F0D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F8C33-F71D-EFC1-6652-E8DD5B2D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4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BD84-E72C-2B03-DADD-3E08DFAC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64736-7B61-EE9E-E9EC-970D6215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78A5A-F0DD-A700-3EA8-FC1928D2F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2CD58B-97AB-7A8D-F1FB-0A97B918D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1AA2A-AF09-7F48-2887-1FA007330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C214D-325C-5D49-4808-A2854B0A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4C0F5-3E2F-37D0-5DFF-42E3E69A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2694B-B74A-9206-D119-5B45657C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DE6AA-FA8A-84C5-F5F8-F58E904B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ED560-45D5-7748-F656-FD0254FC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B4C8E-58FB-B079-57CE-1C23982F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2FE9B-EA9A-9232-D967-4838DD5D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9C1193-5192-C46C-1036-8F4E9C48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84778-DB21-CC0F-FBF3-39C015B3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C6373-6234-9C3F-917C-B262D783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6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6D6E-6056-9F76-A0C2-5D7F30E8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5498C-30C2-4512-219C-E9E6462E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8C9E9-C9B2-BFFA-FCFE-7A7CD021B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469B7-9CA0-401A-1E15-E4A5BAAB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0F972-2C2F-6166-A40E-7A66B58A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9178C-C133-B866-ABEE-CE925B06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556F-BEFB-F898-9BB7-1C3022EFC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09DA-749B-F237-5B2A-B772CEF13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E7480-C686-728D-118D-5496683EA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2B101-DB5A-13D1-CFCB-8E33123F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62C10-364A-3642-CD49-C53E045D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E66A5-CD16-E747-B3A0-DCCE67B1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9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8BB2-AF8C-1380-A0DD-9881D61E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7DF30-6B06-09C2-83D2-0E598E408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408DB-F84E-C20B-2F56-D23FBF7A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B1BC0-66B1-660E-6A84-05F0BE86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89F2-38BC-476D-E005-4C715811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AAD01-E900-E247-D216-0D733D535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8EC40-E3FD-FB2E-EB21-6C03C5743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1ABF8-BFA6-0941-7E91-C45E1C58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1E73-FB3D-CF99-CFEC-ECBB0004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10F06-04F7-741B-7E6C-DC691779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5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75FD8-62AA-1AFE-EFDC-59CC042B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90AC-7AEE-E481-D97D-3AA6CAAE2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78AEE-9301-C4F0-BB47-A5B1F05EF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5292C-B5F3-2847-BDBF-9DFC8A6055F2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CFAE5-29DD-9450-277C-14C2CE481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D4F46-0AE1-09D1-9CF1-4603DCBC7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21AE0-C483-5344-9D23-ED0935CDF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6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BE96-01CA-215D-5C03-D598F117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858209D3-2F8F-67C4-5172-3EEAF0480DF4}"/>
              </a:ext>
            </a:extLst>
          </p:cNvPr>
          <p:cNvSpPr/>
          <p:nvPr/>
        </p:nvSpPr>
        <p:spPr>
          <a:xfrm>
            <a:off x="592062" y="4361877"/>
            <a:ext cx="5243836" cy="1163289"/>
          </a:xfrm>
          <a:prstGeom prst="roundRect">
            <a:avLst>
              <a:gd name="adj" fmla="val 8055"/>
            </a:avLst>
          </a:prstGeom>
          <a:solidFill>
            <a:schemeClr val="bg1"/>
          </a:solidFill>
          <a:ln>
            <a:solidFill>
              <a:srgbClr val="FFC8C8"/>
            </a:solidFill>
          </a:ln>
          <a:effectLst>
            <a:outerShdw blurRad="279400" dist="25400" sx="102000" sy="102000" algn="ctr" rotWithShape="0">
              <a:schemeClr val="tx2">
                <a:lumMod val="25000"/>
                <a:lumOff val="75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A6214C03-AE30-D979-0EFA-DB8A0DA2CD8F}"/>
              </a:ext>
            </a:extLst>
          </p:cNvPr>
          <p:cNvSpPr/>
          <p:nvPr/>
        </p:nvSpPr>
        <p:spPr>
          <a:xfrm>
            <a:off x="592061" y="1192796"/>
            <a:ext cx="5454809" cy="1163288"/>
          </a:xfrm>
          <a:prstGeom prst="roundRect">
            <a:avLst>
              <a:gd name="adj" fmla="val 8055"/>
            </a:avLst>
          </a:prstGeom>
          <a:solidFill>
            <a:schemeClr val="bg1"/>
          </a:solidFill>
          <a:ln>
            <a:solidFill>
              <a:srgbClr val="96B9E8"/>
            </a:solidFill>
          </a:ln>
          <a:effectLst>
            <a:outerShdw blurRad="279400" dist="25400" sx="102000" sy="102000" algn="ctr" rotWithShape="0">
              <a:schemeClr val="tx2">
                <a:lumMod val="25000"/>
                <a:lumOff val="75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6105C-9ECB-BC99-467D-025C5F0F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8255"/>
            <a:ext cx="10515600" cy="1086645"/>
          </a:xfrm>
        </p:spPr>
        <p:txBody>
          <a:bodyPr>
            <a:normAutofit/>
          </a:bodyPr>
          <a:lstStyle/>
          <a:p>
            <a:r>
              <a:rPr lang="en-US" sz="4000" b="1" err="1"/>
              <a:t>OpGuard</a:t>
            </a:r>
            <a:r>
              <a:rPr lang="en-US" sz="4000" b="1"/>
              <a:t> </a:t>
            </a:r>
            <a:r>
              <a:rPr lang="en-US" sz="4000" b="1">
                <a:solidFill>
                  <a:srgbClr val="0650FD"/>
                </a:solidFill>
              </a:rPr>
              <a:t>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6D232-3AD8-9E1B-1B38-9CEDE69B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" y="892618"/>
            <a:ext cx="1346200" cy="17780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43647E6-6B0E-C58E-ED67-329234C4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7DFC-567B-7046-9775-77ABE3E8BB62}" type="slidenum">
              <a:rPr lang="en-US" smtClean="0"/>
              <a:t>1</a:t>
            </a:fld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47AA598F-2B37-1F63-4B73-8602EA758226}"/>
              </a:ext>
            </a:extLst>
          </p:cNvPr>
          <p:cNvSpPr/>
          <p:nvPr/>
        </p:nvSpPr>
        <p:spPr>
          <a:xfrm>
            <a:off x="4346533" y="1525859"/>
            <a:ext cx="1446874" cy="502136"/>
          </a:xfrm>
          <a:prstGeom prst="roundRect">
            <a:avLst/>
          </a:prstGeom>
          <a:pattFill prst="wdUpDiag">
            <a:fgClr>
              <a:schemeClr val="bg1"/>
            </a:fgClr>
            <a:bgClr>
              <a:schemeClr val="accent6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83" name="Graphic 82" descr="Shield with solid fill">
            <a:extLst>
              <a:ext uri="{FF2B5EF4-FFF2-40B4-BE49-F238E27FC236}">
                <a16:creationId xmlns:a16="http://schemas.microsoft.com/office/drawing/2014/main" id="{279C911D-7473-8FEF-5AC9-E6DD5B24E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261" y="1608019"/>
            <a:ext cx="248944" cy="252672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71E36EE-057D-0752-B4F6-7875ADC1F7DA}"/>
              </a:ext>
            </a:extLst>
          </p:cNvPr>
          <p:cNvSpPr txBox="1"/>
          <p:nvPr/>
        </p:nvSpPr>
        <p:spPr>
          <a:xfrm>
            <a:off x="4571827" y="1617104"/>
            <a:ext cx="1297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Attention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331AEAF2-7D15-5FF0-F985-4990FCBB1A98}"/>
              </a:ext>
            </a:extLst>
          </p:cNvPr>
          <p:cNvSpPr/>
          <p:nvPr/>
        </p:nvSpPr>
        <p:spPr>
          <a:xfrm>
            <a:off x="3407929" y="1585854"/>
            <a:ext cx="685794" cy="426089"/>
          </a:xfrm>
          <a:prstGeom prst="roundRect">
            <a:avLst/>
          </a:prstGeom>
          <a:pattFill prst="wdUpDiag">
            <a:fgClr>
              <a:schemeClr val="bg1"/>
            </a:fgClr>
            <a:bgClr>
              <a:schemeClr val="accent4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99" name="Graphic 98" descr="Shield with solid fill">
            <a:extLst>
              <a:ext uri="{FF2B5EF4-FFF2-40B4-BE49-F238E27FC236}">
                <a16:creationId xmlns:a16="http://schemas.microsoft.com/office/drawing/2014/main" id="{2DFA544E-5440-CA45-989C-44F963865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8537" y="1624730"/>
            <a:ext cx="248944" cy="246788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DA0C9A5-3961-F853-6937-7A5D11889829}"/>
              </a:ext>
            </a:extLst>
          </p:cNvPr>
          <p:cNvSpPr txBox="1"/>
          <p:nvPr/>
        </p:nvSpPr>
        <p:spPr>
          <a:xfrm>
            <a:off x="3656030" y="1627885"/>
            <a:ext cx="308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K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A70FBAB9-48E3-1046-9475-02C3D4F78BD7}"/>
              </a:ext>
            </a:extLst>
          </p:cNvPr>
          <p:cNvSpPr/>
          <p:nvPr/>
        </p:nvSpPr>
        <p:spPr>
          <a:xfrm>
            <a:off x="1582151" y="1572783"/>
            <a:ext cx="751304" cy="428295"/>
          </a:xfrm>
          <a:prstGeom prst="roundRect">
            <a:avLst/>
          </a:prstGeom>
          <a:pattFill prst="wdUpDiag">
            <a:fgClr>
              <a:schemeClr val="bg1"/>
            </a:fgClr>
            <a:bgClr>
              <a:srgbClr val="FDF2D2"/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pic>
        <p:nvPicPr>
          <p:cNvPr id="109" name="Graphic 108" descr="Shield with solid fill">
            <a:extLst>
              <a:ext uri="{FF2B5EF4-FFF2-40B4-BE49-F238E27FC236}">
                <a16:creationId xmlns:a16="http://schemas.microsoft.com/office/drawing/2014/main" id="{B405B5C0-0279-7927-EABD-D1458C6BC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8407" y="1636823"/>
            <a:ext cx="248944" cy="23469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55A538C-565A-BBC1-43ED-A3A6501B49A0}"/>
              </a:ext>
            </a:extLst>
          </p:cNvPr>
          <p:cNvSpPr txBox="1"/>
          <p:nvPr/>
        </p:nvSpPr>
        <p:spPr>
          <a:xfrm>
            <a:off x="1844553" y="1628497"/>
            <a:ext cx="315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V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98684F3D-7E4B-7F5F-E896-4F3850F90332}"/>
              </a:ext>
            </a:extLst>
          </p:cNvPr>
          <p:cNvSpPr/>
          <p:nvPr/>
        </p:nvSpPr>
        <p:spPr>
          <a:xfrm>
            <a:off x="4222890" y="4845152"/>
            <a:ext cx="1445775" cy="454720"/>
          </a:xfrm>
          <a:prstGeom prst="roundRect">
            <a:avLst/>
          </a:prstGeom>
          <a:pattFill prst="wdUpDiag">
            <a:fgClr>
              <a:schemeClr val="bg1"/>
            </a:fgClr>
            <a:bgClr>
              <a:schemeClr val="accent6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pic>
        <p:nvPicPr>
          <p:cNvPr id="118" name="Graphic 117" descr="Shield with solid fill">
            <a:extLst>
              <a:ext uri="{FF2B5EF4-FFF2-40B4-BE49-F238E27FC236}">
                <a16:creationId xmlns:a16="http://schemas.microsoft.com/office/drawing/2014/main" id="{A399F5DF-BE3B-9999-53D5-5F902B6F6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1436" y="4903432"/>
            <a:ext cx="234762" cy="221973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DCE4E2F5-3D89-7358-DA47-702940D2085D}"/>
              </a:ext>
            </a:extLst>
          </p:cNvPr>
          <p:cNvSpPr txBox="1"/>
          <p:nvPr/>
        </p:nvSpPr>
        <p:spPr>
          <a:xfrm>
            <a:off x="4424453" y="4859946"/>
            <a:ext cx="1297910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Attention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9FF5E9A8-7682-1E37-0F8B-19BBF9846605}"/>
              </a:ext>
            </a:extLst>
          </p:cNvPr>
          <p:cNvSpPr/>
          <p:nvPr/>
        </p:nvSpPr>
        <p:spPr>
          <a:xfrm>
            <a:off x="3417478" y="4825529"/>
            <a:ext cx="708504" cy="454721"/>
          </a:xfrm>
          <a:prstGeom prst="roundRect">
            <a:avLst/>
          </a:prstGeom>
          <a:pattFill prst="wdUpDiag">
            <a:fgClr>
              <a:schemeClr val="bg1"/>
            </a:fgClr>
            <a:bgClr>
              <a:srgbClr val="FDF2D2"/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pic>
        <p:nvPicPr>
          <p:cNvPr id="122" name="Graphic 121" descr="Shield with solid fill">
            <a:extLst>
              <a:ext uri="{FF2B5EF4-FFF2-40B4-BE49-F238E27FC236}">
                <a16:creationId xmlns:a16="http://schemas.microsoft.com/office/drawing/2014/main" id="{A12C8BAD-18EE-BD63-3906-7A81F78779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390" y="4883522"/>
            <a:ext cx="234762" cy="223802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489C0C83-30DD-0936-E1F7-9EFD412C0B4D}"/>
              </a:ext>
            </a:extLst>
          </p:cNvPr>
          <p:cNvSpPr txBox="1"/>
          <p:nvPr/>
        </p:nvSpPr>
        <p:spPr>
          <a:xfrm>
            <a:off x="3675462" y="4881767"/>
            <a:ext cx="297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V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E245CAB-D084-7023-03F6-9C1D6B4D9381}"/>
              </a:ext>
            </a:extLst>
          </p:cNvPr>
          <p:cNvSpPr/>
          <p:nvPr/>
        </p:nvSpPr>
        <p:spPr>
          <a:xfrm>
            <a:off x="2613466" y="4824723"/>
            <a:ext cx="646726" cy="454720"/>
          </a:xfrm>
          <a:prstGeom prst="roundRect">
            <a:avLst/>
          </a:prstGeom>
          <a:pattFill prst="wdUpDiag">
            <a:fgClr>
              <a:schemeClr val="bg1"/>
            </a:fgClr>
            <a:bgClr>
              <a:schemeClr val="accent4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pic>
        <p:nvPicPr>
          <p:cNvPr id="126" name="Graphic 125" descr="Shield with solid fill">
            <a:extLst>
              <a:ext uri="{FF2B5EF4-FFF2-40B4-BE49-F238E27FC236}">
                <a16:creationId xmlns:a16="http://schemas.microsoft.com/office/drawing/2014/main" id="{07FAF683-1992-AAAF-CC12-9C6FC3CF4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1686" y="4886118"/>
            <a:ext cx="234762" cy="214942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9DFDA3AC-AAF9-569D-5264-8E3E9CBF62AF}"/>
              </a:ext>
            </a:extLst>
          </p:cNvPr>
          <p:cNvSpPr txBox="1"/>
          <p:nvPr/>
        </p:nvSpPr>
        <p:spPr>
          <a:xfrm>
            <a:off x="2857771" y="4872435"/>
            <a:ext cx="291197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K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043A734-FC1F-61AA-6807-264441FF2837}"/>
              </a:ext>
            </a:extLst>
          </p:cNvPr>
          <p:cNvGrpSpPr/>
          <p:nvPr/>
        </p:nvGrpSpPr>
        <p:grpSpPr>
          <a:xfrm>
            <a:off x="6350524" y="1058254"/>
            <a:ext cx="5670026" cy="864405"/>
            <a:chOff x="402115" y="1448942"/>
            <a:chExt cx="9993365" cy="864405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36794324-7D2A-001C-9C42-5658B6AB0312}"/>
                </a:ext>
              </a:extLst>
            </p:cNvPr>
            <p:cNvSpPr/>
            <p:nvPr/>
          </p:nvSpPr>
          <p:spPr>
            <a:xfrm>
              <a:off x="402115" y="1448942"/>
              <a:ext cx="9993365" cy="864405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5DD2F06C-B4E6-33DD-DAED-BEF2972C17E4}"/>
                </a:ext>
              </a:extLst>
            </p:cNvPr>
            <p:cNvSpPr/>
            <p:nvPr/>
          </p:nvSpPr>
          <p:spPr>
            <a:xfrm>
              <a:off x="1295061" y="1667144"/>
              <a:ext cx="675453" cy="381803"/>
            </a:xfrm>
            <a:prstGeom prst="ellipse">
              <a:avLst/>
            </a:prstGeom>
            <a:solidFill>
              <a:srgbClr val="065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51CEBBD-010F-C7DE-61A5-F1BF8F3F1E9D}"/>
                </a:ext>
              </a:extLst>
            </p:cNvPr>
            <p:cNvSpPr txBox="1"/>
            <p:nvPr/>
          </p:nvSpPr>
          <p:spPr>
            <a:xfrm>
              <a:off x="2236687" y="1591065"/>
              <a:ext cx="73428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solidFill>
                    <a:srgbClr val="0650FD"/>
                  </a:solidFill>
                </a:rPr>
                <a:t>Determinism Control</a:t>
              </a:r>
            </a:p>
          </p:txBody>
        </p:sp>
      </p:grpSp>
      <p:pic>
        <p:nvPicPr>
          <p:cNvPr id="138" name="Picture 137">
            <a:extLst>
              <a:ext uri="{FF2B5EF4-FFF2-40B4-BE49-F238E27FC236}">
                <a16:creationId xmlns:a16="http://schemas.microsoft.com/office/drawing/2014/main" id="{E891DEF0-2C7A-B8D6-04DB-880181446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991388" y="1086461"/>
            <a:ext cx="730606" cy="694075"/>
          </a:xfrm>
          <a:prstGeom prst="rect">
            <a:avLst/>
          </a:prstGeom>
        </p:spPr>
      </p:pic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A5499B1-816B-4F39-AB5C-F0D5B84B903C}"/>
              </a:ext>
            </a:extLst>
          </p:cNvPr>
          <p:cNvGrpSpPr/>
          <p:nvPr/>
        </p:nvGrpSpPr>
        <p:grpSpPr>
          <a:xfrm>
            <a:off x="6358575" y="2056658"/>
            <a:ext cx="5608578" cy="1096230"/>
            <a:chOff x="402115" y="1448942"/>
            <a:chExt cx="9885063" cy="1096230"/>
          </a:xfrm>
        </p:grpSpPr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2C7CDA18-F935-1046-42D9-70B2188F3987}"/>
                </a:ext>
              </a:extLst>
            </p:cNvPr>
            <p:cNvSpPr/>
            <p:nvPr/>
          </p:nvSpPr>
          <p:spPr>
            <a:xfrm>
              <a:off x="402115" y="1448942"/>
              <a:ext cx="9885063" cy="1096230"/>
            </a:xfrm>
            <a:prstGeom prst="roundRect">
              <a:avLst/>
            </a:prstGeom>
            <a:no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93411914-A8E2-1E14-03B5-2023FD95143A}"/>
                </a:ext>
              </a:extLst>
            </p:cNvPr>
            <p:cNvSpPr/>
            <p:nvPr/>
          </p:nvSpPr>
          <p:spPr>
            <a:xfrm>
              <a:off x="1286547" y="1660268"/>
              <a:ext cx="675453" cy="381803"/>
            </a:xfrm>
            <a:prstGeom prst="ellipse">
              <a:avLst/>
            </a:prstGeom>
            <a:solidFill>
              <a:srgbClr val="065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9F0E8F3-1A32-9440-72DF-543A9DBE76E9}"/>
                </a:ext>
              </a:extLst>
            </p:cNvPr>
            <p:cNvSpPr txBox="1"/>
            <p:nvPr/>
          </p:nvSpPr>
          <p:spPr>
            <a:xfrm>
              <a:off x="2236687" y="1591065"/>
              <a:ext cx="80504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0650FD"/>
                  </a:solidFill>
                </a:rPr>
                <a:t>Preflight: (~ 5 iters)</a:t>
              </a:r>
            </a:p>
            <a:p>
              <a:r>
                <a:rPr lang="en-US" sz="2800" b="1" dirty="0">
                  <a:solidFill>
                    <a:srgbClr val="0650FD"/>
                  </a:solidFill>
                </a:rPr>
                <a:t>Discover Stable Op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F579988-0587-8D4A-2615-53CC5FEF0C25}"/>
              </a:ext>
            </a:extLst>
          </p:cNvPr>
          <p:cNvGrpSpPr/>
          <p:nvPr/>
        </p:nvGrpSpPr>
        <p:grpSpPr>
          <a:xfrm>
            <a:off x="6325327" y="3191197"/>
            <a:ext cx="5608578" cy="1246928"/>
            <a:chOff x="402115" y="1448942"/>
            <a:chExt cx="9885063" cy="1246928"/>
          </a:xfrm>
        </p:grpSpPr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35ACCA06-6944-893E-6E26-F5434E77D5A1}"/>
                </a:ext>
              </a:extLst>
            </p:cNvPr>
            <p:cNvSpPr/>
            <p:nvPr/>
          </p:nvSpPr>
          <p:spPr>
            <a:xfrm>
              <a:off x="402115" y="1448942"/>
              <a:ext cx="9885063" cy="1246928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A1D17794-24D5-4ABD-3A6F-49E207351788}"/>
                </a:ext>
              </a:extLst>
            </p:cNvPr>
            <p:cNvSpPr/>
            <p:nvPr/>
          </p:nvSpPr>
          <p:spPr>
            <a:xfrm>
              <a:off x="1333133" y="1777123"/>
              <a:ext cx="675453" cy="381803"/>
            </a:xfrm>
            <a:prstGeom prst="ellipse">
              <a:avLst/>
            </a:prstGeom>
            <a:solidFill>
              <a:srgbClr val="065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C0A2679-48C8-7070-4960-95D2BC6C0DEA}"/>
                </a:ext>
              </a:extLst>
            </p:cNvPr>
            <p:cNvSpPr txBox="1"/>
            <p:nvPr/>
          </p:nvSpPr>
          <p:spPr>
            <a:xfrm>
              <a:off x="2236687" y="1700689"/>
              <a:ext cx="80504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0650FD"/>
                  </a:solidFill>
                </a:rPr>
                <a:t>Guarded Replay: Fingerprint at Op boundary 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5B089F2-BEF8-433B-48A7-0466A95C0BA5}"/>
              </a:ext>
            </a:extLst>
          </p:cNvPr>
          <p:cNvGrpSpPr/>
          <p:nvPr/>
        </p:nvGrpSpPr>
        <p:grpSpPr>
          <a:xfrm>
            <a:off x="6358575" y="4697423"/>
            <a:ext cx="5608578" cy="798491"/>
            <a:chOff x="402115" y="1448942"/>
            <a:chExt cx="9885063" cy="798491"/>
          </a:xfrm>
        </p:grpSpPr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CB1D297A-CCBD-197F-91E0-E731FBF366DB}"/>
                </a:ext>
              </a:extLst>
            </p:cNvPr>
            <p:cNvSpPr/>
            <p:nvPr/>
          </p:nvSpPr>
          <p:spPr>
            <a:xfrm>
              <a:off x="402115" y="1448942"/>
              <a:ext cx="9885063" cy="798491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3A22B08-018C-29FC-A0F2-C8612141809F}"/>
                </a:ext>
              </a:extLst>
            </p:cNvPr>
            <p:cNvSpPr/>
            <p:nvPr/>
          </p:nvSpPr>
          <p:spPr>
            <a:xfrm>
              <a:off x="1295061" y="1661594"/>
              <a:ext cx="675453" cy="387353"/>
            </a:xfrm>
            <a:prstGeom prst="ellipse">
              <a:avLst/>
            </a:prstGeom>
            <a:solidFill>
              <a:srgbClr val="065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CA4CED8-04B5-56B4-B90F-422DD835A769}"/>
                </a:ext>
              </a:extLst>
            </p:cNvPr>
            <p:cNvSpPr txBox="1"/>
            <p:nvPr/>
          </p:nvSpPr>
          <p:spPr>
            <a:xfrm>
              <a:off x="2236687" y="1591065"/>
              <a:ext cx="80504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>
                  <a:solidFill>
                    <a:srgbClr val="0650FD"/>
                  </a:solidFill>
                </a:rPr>
                <a:t>Offline Alignment</a:t>
              </a:r>
            </a:p>
          </p:txBody>
        </p:sp>
      </p:grpSp>
      <p:pic>
        <p:nvPicPr>
          <p:cNvPr id="156" name="Picture 155">
            <a:extLst>
              <a:ext uri="{FF2B5EF4-FFF2-40B4-BE49-F238E27FC236}">
                <a16:creationId xmlns:a16="http://schemas.microsoft.com/office/drawing/2014/main" id="{5399066C-F993-55A4-5DF8-BC81A70F04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4927" y="1569480"/>
            <a:ext cx="730606" cy="694075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31CF5664-5550-3DB2-C12D-C019FE8ED8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5387" y="4477685"/>
            <a:ext cx="730606" cy="694075"/>
          </a:xfrm>
          <a:prstGeom prst="rect">
            <a:avLst/>
          </a:prstGeom>
        </p:spPr>
      </p:pic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B984EB95-EE0A-A604-DA24-0FA962B1D7BC}"/>
              </a:ext>
            </a:extLst>
          </p:cNvPr>
          <p:cNvSpPr/>
          <p:nvPr/>
        </p:nvSpPr>
        <p:spPr>
          <a:xfrm>
            <a:off x="1582151" y="1569480"/>
            <a:ext cx="751304" cy="43159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E8D5E9C9-CA2D-570E-CBBD-49A32D8AAB6A}"/>
              </a:ext>
            </a:extLst>
          </p:cNvPr>
          <p:cNvSpPr/>
          <p:nvPr/>
        </p:nvSpPr>
        <p:spPr>
          <a:xfrm>
            <a:off x="3411383" y="1570122"/>
            <a:ext cx="699672" cy="43159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C84E4828-1BE6-9C48-B402-8CD768D2014F}"/>
              </a:ext>
            </a:extLst>
          </p:cNvPr>
          <p:cNvSpPr/>
          <p:nvPr/>
        </p:nvSpPr>
        <p:spPr>
          <a:xfrm>
            <a:off x="4357606" y="1542277"/>
            <a:ext cx="1443092" cy="485717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D7E31057-D5E9-9830-24C5-17E95F892C1B}"/>
              </a:ext>
            </a:extLst>
          </p:cNvPr>
          <p:cNvSpPr/>
          <p:nvPr/>
        </p:nvSpPr>
        <p:spPr>
          <a:xfrm>
            <a:off x="2613465" y="4836284"/>
            <a:ext cx="675183" cy="43159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15A65B13-0930-5A55-4E01-629B4E468CDF}"/>
              </a:ext>
            </a:extLst>
          </p:cNvPr>
          <p:cNvSpPr/>
          <p:nvPr/>
        </p:nvSpPr>
        <p:spPr>
          <a:xfrm>
            <a:off x="3417478" y="4841737"/>
            <a:ext cx="708504" cy="43159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0E9AEC9C-F7C4-3E71-CAC0-308990E9EA7D}"/>
              </a:ext>
            </a:extLst>
          </p:cNvPr>
          <p:cNvSpPr/>
          <p:nvPr/>
        </p:nvSpPr>
        <p:spPr>
          <a:xfrm>
            <a:off x="4227365" y="4837729"/>
            <a:ext cx="1441300" cy="431598"/>
          </a:xfrm>
          <a:prstGeom prst="round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472C07E-C35C-3D60-3BDD-B5EADBFF24C0}"/>
              </a:ext>
            </a:extLst>
          </p:cNvPr>
          <p:cNvGrpSpPr/>
          <p:nvPr/>
        </p:nvGrpSpPr>
        <p:grpSpPr>
          <a:xfrm>
            <a:off x="1998332" y="2596280"/>
            <a:ext cx="2726344" cy="541865"/>
            <a:chOff x="1795682" y="3233136"/>
            <a:chExt cx="3254669" cy="646870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8061FC3-0305-F932-DF05-51915F4B113C}"/>
                </a:ext>
              </a:extLst>
            </p:cNvPr>
            <p:cNvSpPr/>
            <p:nvPr/>
          </p:nvSpPr>
          <p:spPr>
            <a:xfrm>
              <a:off x="1795682" y="3233136"/>
              <a:ext cx="3170601" cy="6468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65" name="Rounded Rectangle 164">
              <a:extLst>
                <a:ext uri="{FF2B5EF4-FFF2-40B4-BE49-F238E27FC236}">
                  <a16:creationId xmlns:a16="http://schemas.microsoft.com/office/drawing/2014/main" id="{CB8F062A-ED9A-1917-FFB5-1196A1622E94}"/>
                </a:ext>
              </a:extLst>
            </p:cNvPr>
            <p:cNvSpPr/>
            <p:nvPr/>
          </p:nvSpPr>
          <p:spPr>
            <a:xfrm>
              <a:off x="1949583" y="3282244"/>
              <a:ext cx="510639" cy="53608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6" name="Graphic 165" descr="Fingerprint with solid fill">
              <a:extLst>
                <a:ext uri="{FF2B5EF4-FFF2-40B4-BE49-F238E27FC236}">
                  <a16:creationId xmlns:a16="http://schemas.microsoft.com/office/drawing/2014/main" id="{D1E3BBF9-F748-E03E-8D89-A88CED5B84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64273" y="3298606"/>
              <a:ext cx="526440" cy="526440"/>
            </a:xfrm>
            <a:prstGeom prst="rect">
              <a:avLst/>
            </a:prstGeom>
          </p:spPr>
        </p:pic>
        <p:sp>
          <p:nvSpPr>
            <p:cNvPr id="167" name="Rounded Rectangle 166">
              <a:extLst>
                <a:ext uri="{FF2B5EF4-FFF2-40B4-BE49-F238E27FC236}">
                  <a16:creationId xmlns:a16="http://schemas.microsoft.com/office/drawing/2014/main" id="{34524153-311C-C695-DB79-8BEC2DEA4245}"/>
                </a:ext>
              </a:extLst>
            </p:cNvPr>
            <p:cNvSpPr/>
            <p:nvPr/>
          </p:nvSpPr>
          <p:spPr>
            <a:xfrm>
              <a:off x="2536168" y="3282244"/>
              <a:ext cx="510639" cy="5360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8" name="Graphic 167" descr="Fingerprint with solid fill">
              <a:extLst>
                <a:ext uri="{FF2B5EF4-FFF2-40B4-BE49-F238E27FC236}">
                  <a16:creationId xmlns:a16="http://schemas.microsoft.com/office/drawing/2014/main" id="{D3ACC024-AB8B-ABE8-5A02-942BE4425D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528267" y="3282244"/>
              <a:ext cx="526440" cy="52644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FB62375-E3F4-A5A1-00BF-90060754CA09}"/>
                </a:ext>
              </a:extLst>
            </p:cNvPr>
            <p:cNvSpPr txBox="1"/>
            <p:nvPr/>
          </p:nvSpPr>
          <p:spPr>
            <a:xfrm>
              <a:off x="4372171" y="3282244"/>
              <a:ext cx="6781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/>
                <a:t>…</a:t>
              </a:r>
            </a:p>
          </p:txBody>
        </p:sp>
        <p:sp>
          <p:nvSpPr>
            <p:cNvPr id="170" name="Rounded Rectangle 169">
              <a:extLst>
                <a:ext uri="{FF2B5EF4-FFF2-40B4-BE49-F238E27FC236}">
                  <a16:creationId xmlns:a16="http://schemas.microsoft.com/office/drawing/2014/main" id="{4545CD7B-87C0-59A3-0D8D-6C250BCA1127}"/>
                </a:ext>
              </a:extLst>
            </p:cNvPr>
            <p:cNvSpPr/>
            <p:nvPr/>
          </p:nvSpPr>
          <p:spPr>
            <a:xfrm>
              <a:off x="3125675" y="3282627"/>
              <a:ext cx="510639" cy="53608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1" name="Graphic 170" descr="Fingerprint with solid fill">
              <a:extLst>
                <a:ext uri="{FF2B5EF4-FFF2-40B4-BE49-F238E27FC236}">
                  <a16:creationId xmlns:a16="http://schemas.microsoft.com/office/drawing/2014/main" id="{2AB5B466-5DF8-069E-1180-3748D8E01F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17774" y="3282627"/>
              <a:ext cx="526440" cy="526440"/>
            </a:xfrm>
            <a:prstGeom prst="rect">
              <a:avLst/>
            </a:prstGeom>
          </p:spPr>
        </p:pic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0DF3988-315B-7EB4-0941-462291858AFC}"/>
              </a:ext>
            </a:extLst>
          </p:cNvPr>
          <p:cNvGrpSpPr/>
          <p:nvPr/>
        </p:nvGrpSpPr>
        <p:grpSpPr>
          <a:xfrm>
            <a:off x="2030043" y="3513002"/>
            <a:ext cx="2726344" cy="541865"/>
            <a:chOff x="1795682" y="3233136"/>
            <a:chExt cx="3254669" cy="646870"/>
          </a:xfrm>
        </p:grpSpPr>
        <p:sp>
          <p:nvSpPr>
            <p:cNvPr id="177" name="Rounded Rectangle 176">
              <a:extLst>
                <a:ext uri="{FF2B5EF4-FFF2-40B4-BE49-F238E27FC236}">
                  <a16:creationId xmlns:a16="http://schemas.microsoft.com/office/drawing/2014/main" id="{86FBE49B-F92E-035C-0E21-AB582F7C3157}"/>
                </a:ext>
              </a:extLst>
            </p:cNvPr>
            <p:cNvSpPr/>
            <p:nvPr/>
          </p:nvSpPr>
          <p:spPr>
            <a:xfrm>
              <a:off x="1934167" y="3282627"/>
              <a:ext cx="510639" cy="536083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32FFEDF-54B5-C39B-0B12-6D23CCE451FE}"/>
                </a:ext>
              </a:extLst>
            </p:cNvPr>
            <p:cNvSpPr/>
            <p:nvPr/>
          </p:nvSpPr>
          <p:spPr>
            <a:xfrm>
              <a:off x="1795682" y="3233136"/>
              <a:ext cx="3170601" cy="64687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C00000"/>
                </a:solidFill>
              </a:endParaRPr>
            </a:p>
          </p:txBody>
        </p:sp>
        <p:sp>
          <p:nvSpPr>
            <p:cNvPr id="175" name="Rounded Rectangle 174">
              <a:extLst>
                <a:ext uri="{FF2B5EF4-FFF2-40B4-BE49-F238E27FC236}">
                  <a16:creationId xmlns:a16="http://schemas.microsoft.com/office/drawing/2014/main" id="{6B3FA600-77C3-0588-4BEC-976703902081}"/>
                </a:ext>
              </a:extLst>
            </p:cNvPr>
            <p:cNvSpPr/>
            <p:nvPr/>
          </p:nvSpPr>
          <p:spPr>
            <a:xfrm>
              <a:off x="2518494" y="3292464"/>
              <a:ext cx="510639" cy="53608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6" name="Graphic 175" descr="Fingerprint with solid fill">
              <a:extLst>
                <a:ext uri="{FF2B5EF4-FFF2-40B4-BE49-F238E27FC236}">
                  <a16:creationId xmlns:a16="http://schemas.microsoft.com/office/drawing/2014/main" id="{F6870654-6D34-A62F-C575-4077E7A73E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41682" y="3282244"/>
              <a:ext cx="526440" cy="526440"/>
            </a:xfrm>
            <a:prstGeom prst="rect">
              <a:avLst/>
            </a:prstGeom>
          </p:spPr>
        </p:pic>
        <p:pic>
          <p:nvPicPr>
            <p:cNvPr id="178" name="Graphic 177" descr="Fingerprint with solid fill">
              <a:extLst>
                <a:ext uri="{FF2B5EF4-FFF2-40B4-BE49-F238E27FC236}">
                  <a16:creationId xmlns:a16="http://schemas.microsoft.com/office/drawing/2014/main" id="{B4443DAA-4FDF-94C7-C17E-CCFD108192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28267" y="3282244"/>
              <a:ext cx="526440" cy="526440"/>
            </a:xfrm>
            <a:prstGeom prst="rect">
              <a:avLst/>
            </a:prstGeom>
          </p:spPr>
        </p:pic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96072ADD-890B-5869-336A-64A3ADF54F78}"/>
                </a:ext>
              </a:extLst>
            </p:cNvPr>
            <p:cNvSpPr txBox="1"/>
            <p:nvPr/>
          </p:nvSpPr>
          <p:spPr>
            <a:xfrm>
              <a:off x="4372171" y="3282244"/>
              <a:ext cx="6781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/>
                <a:t>…</a:t>
              </a: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ADF41CDF-ACBE-BF63-407B-3F2BDE13A7E6}"/>
                </a:ext>
              </a:extLst>
            </p:cNvPr>
            <p:cNvSpPr/>
            <p:nvPr/>
          </p:nvSpPr>
          <p:spPr>
            <a:xfrm>
              <a:off x="3090464" y="3296711"/>
              <a:ext cx="510639" cy="53608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1" name="Graphic 180" descr="Fingerprint with solid fill">
              <a:extLst>
                <a:ext uri="{FF2B5EF4-FFF2-40B4-BE49-F238E27FC236}">
                  <a16:creationId xmlns:a16="http://schemas.microsoft.com/office/drawing/2014/main" id="{3175B8A1-0514-7036-DA32-B4D658CA7C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82563" y="3296711"/>
              <a:ext cx="526440" cy="526440"/>
            </a:xfrm>
            <a:prstGeom prst="rect">
              <a:avLst/>
            </a:prstGeom>
          </p:spPr>
        </p:pic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17FD524-F402-C54D-F34C-76B7E0E73221}"/>
              </a:ext>
            </a:extLst>
          </p:cNvPr>
          <p:cNvCxnSpPr>
            <a:stCxn id="177" idx="0"/>
            <a:endCxn id="167" idx="2"/>
          </p:cNvCxnSpPr>
          <p:nvPr/>
        </p:nvCxnSpPr>
        <p:spPr>
          <a:xfrm flipV="1">
            <a:off x="2359922" y="3086478"/>
            <a:ext cx="472568" cy="467981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89BC17D-8DC7-3DEB-647E-1A73A3950215}"/>
              </a:ext>
            </a:extLst>
          </p:cNvPr>
          <p:cNvCxnSpPr>
            <a:cxnSpLocks/>
            <a:stCxn id="175" idx="0"/>
            <a:endCxn id="165" idx="2"/>
          </p:cNvCxnSpPr>
          <p:nvPr/>
        </p:nvCxnSpPr>
        <p:spPr>
          <a:xfrm flipH="1" flipV="1">
            <a:off x="2341125" y="3086478"/>
            <a:ext cx="508271" cy="476221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9785C75-388D-5D42-8B7D-3E5BDD836987}"/>
              </a:ext>
            </a:extLst>
          </p:cNvPr>
          <p:cNvCxnSpPr>
            <a:cxnSpLocks/>
            <a:stCxn id="180" idx="0"/>
            <a:endCxn id="170" idx="2"/>
          </p:cNvCxnSpPr>
          <p:nvPr/>
        </p:nvCxnSpPr>
        <p:spPr>
          <a:xfrm flipH="1" flipV="1">
            <a:off x="3326303" y="3086799"/>
            <a:ext cx="2216" cy="479458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76E5F15-E566-EA32-8586-7765CA07D4C3}"/>
              </a:ext>
            </a:extLst>
          </p:cNvPr>
          <p:cNvGrpSpPr/>
          <p:nvPr/>
        </p:nvGrpSpPr>
        <p:grpSpPr>
          <a:xfrm>
            <a:off x="2248883" y="1512622"/>
            <a:ext cx="1297912" cy="523220"/>
            <a:chOff x="2270723" y="1999665"/>
            <a:chExt cx="1297912" cy="523220"/>
          </a:xfrm>
        </p:grpSpPr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4D96FEAC-3AD9-7A85-452E-674F50705D0A}"/>
                </a:ext>
              </a:extLst>
            </p:cNvPr>
            <p:cNvSpPr/>
            <p:nvPr/>
          </p:nvSpPr>
          <p:spPr>
            <a:xfrm>
              <a:off x="2436895" y="2046825"/>
              <a:ext cx="911248" cy="42829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DE68CFF-C14B-BA2B-41D4-CBB96321AB14}"/>
                </a:ext>
              </a:extLst>
            </p:cNvPr>
            <p:cNvSpPr txBox="1"/>
            <p:nvPr/>
          </p:nvSpPr>
          <p:spPr>
            <a:xfrm>
              <a:off x="2270723" y="1999665"/>
              <a:ext cx="1297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/>
                <a:t>Other Compute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E1A9D20-9A59-1FB8-310B-D63570147582}"/>
              </a:ext>
            </a:extLst>
          </p:cNvPr>
          <p:cNvGrpSpPr/>
          <p:nvPr/>
        </p:nvGrpSpPr>
        <p:grpSpPr>
          <a:xfrm>
            <a:off x="1427422" y="4778191"/>
            <a:ext cx="1297912" cy="523220"/>
            <a:chOff x="2270723" y="1999665"/>
            <a:chExt cx="1297912" cy="523220"/>
          </a:xfrm>
        </p:grpSpPr>
        <p:sp>
          <p:nvSpPr>
            <p:cNvPr id="195" name="Rounded Rectangle 194">
              <a:extLst>
                <a:ext uri="{FF2B5EF4-FFF2-40B4-BE49-F238E27FC236}">
                  <a16:creationId xmlns:a16="http://schemas.microsoft.com/office/drawing/2014/main" id="{C6E0D55F-E2F9-D513-2FB9-56577A87FA59}"/>
                </a:ext>
              </a:extLst>
            </p:cNvPr>
            <p:cNvSpPr/>
            <p:nvPr/>
          </p:nvSpPr>
          <p:spPr>
            <a:xfrm>
              <a:off x="2436895" y="2046825"/>
              <a:ext cx="911248" cy="42829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2319AF8-6CCC-B0A5-E2E6-B06C25800C6E}"/>
                </a:ext>
              </a:extLst>
            </p:cNvPr>
            <p:cNvSpPr txBox="1"/>
            <p:nvPr/>
          </p:nvSpPr>
          <p:spPr>
            <a:xfrm>
              <a:off x="2270723" y="1999665"/>
              <a:ext cx="12979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/>
                <a:t>Other Compute</a:t>
              </a:r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DE0893CB-8D12-F371-9B61-6860DFF3319F}"/>
              </a:ext>
            </a:extLst>
          </p:cNvPr>
          <p:cNvCxnSpPr>
            <a:cxnSpLocks/>
            <a:stCxn id="158" idx="2"/>
            <a:endCxn id="165" idx="0"/>
          </p:cNvCxnSpPr>
          <p:nvPr/>
        </p:nvCxnSpPr>
        <p:spPr>
          <a:xfrm rot="16200000" flipH="1">
            <a:off x="1831295" y="2127586"/>
            <a:ext cx="636338" cy="383322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CDC45587-4FBF-ED26-A015-D0BC6653B56B}"/>
              </a:ext>
            </a:extLst>
          </p:cNvPr>
          <p:cNvCxnSpPr>
            <a:cxnSpLocks/>
            <a:stCxn id="159" idx="2"/>
            <a:endCxn id="167" idx="0"/>
          </p:cNvCxnSpPr>
          <p:nvPr/>
        </p:nvCxnSpPr>
        <p:spPr>
          <a:xfrm rot="5400000">
            <a:off x="2979007" y="1855204"/>
            <a:ext cx="635696" cy="928729"/>
          </a:xfrm>
          <a:prstGeom prst="curvedConnector3">
            <a:avLst>
              <a:gd name="adj1" fmla="val 50000"/>
            </a:avLst>
          </a:prstGeom>
          <a:ln>
            <a:solidFill>
              <a:srgbClr val="0650F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0DCC387A-ADB0-132F-ED5D-A818FDCC79D6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 rot="5400000">
            <a:off x="3897857" y="1456441"/>
            <a:ext cx="609743" cy="1752849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428595-B1AA-1EF8-7630-9FBCE35D6442}"/>
              </a:ext>
            </a:extLst>
          </p:cNvPr>
          <p:cNvSpPr/>
          <p:nvPr/>
        </p:nvSpPr>
        <p:spPr>
          <a:xfrm>
            <a:off x="2020098" y="2117842"/>
            <a:ext cx="2596085" cy="334732"/>
          </a:xfrm>
          <a:prstGeom prst="round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en-US">
                <a:solidFill>
                  <a:schemeClr val="tx1"/>
                </a:solidFill>
              </a:rPr>
              <a:t>Suspect Run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8E771CBB-5AE8-B130-DE2B-64173F2120DE}"/>
              </a:ext>
            </a:extLst>
          </p:cNvPr>
          <p:cNvCxnSpPr>
            <a:cxnSpLocks/>
            <a:stCxn id="162" idx="0"/>
            <a:endCxn id="178" idx="2"/>
          </p:cNvCxnSpPr>
          <p:nvPr/>
        </p:nvCxnSpPr>
        <p:spPr>
          <a:xfrm rot="16200000" flipV="1">
            <a:off x="2894659" y="3964665"/>
            <a:ext cx="846615" cy="907529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E711DC94-284D-1BC2-D701-D4FF233960DC}"/>
              </a:ext>
            </a:extLst>
          </p:cNvPr>
          <p:cNvCxnSpPr>
            <a:cxnSpLocks/>
            <a:stCxn id="161" idx="0"/>
            <a:endCxn id="177" idx="2"/>
          </p:cNvCxnSpPr>
          <p:nvPr/>
        </p:nvCxnSpPr>
        <p:spPr>
          <a:xfrm rot="16200000" flipV="1">
            <a:off x="2239109" y="4124335"/>
            <a:ext cx="832763" cy="591135"/>
          </a:xfrm>
          <a:prstGeom prst="curvedConnector3">
            <a:avLst>
              <a:gd name="adj1" fmla="val 50000"/>
            </a:avLst>
          </a:prstGeom>
          <a:ln>
            <a:solidFill>
              <a:srgbClr val="0650F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39ED2EC-18AB-204E-7C31-9F3010C66F43}"/>
              </a:ext>
            </a:extLst>
          </p:cNvPr>
          <p:cNvCxnSpPr>
            <a:cxnSpLocks/>
            <a:stCxn id="163" idx="0"/>
            <a:endCxn id="180" idx="2"/>
          </p:cNvCxnSpPr>
          <p:nvPr/>
        </p:nvCxnSpPr>
        <p:spPr>
          <a:xfrm rot="16200000" flipV="1">
            <a:off x="3727062" y="3616776"/>
            <a:ext cx="822410" cy="1619496"/>
          </a:xfrm>
          <a:prstGeom prst="curved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B61B8D-117B-67AA-2650-06D8C010C851}"/>
              </a:ext>
            </a:extLst>
          </p:cNvPr>
          <p:cNvSpPr/>
          <p:nvPr/>
        </p:nvSpPr>
        <p:spPr>
          <a:xfrm>
            <a:off x="2193617" y="4219625"/>
            <a:ext cx="2265372" cy="420428"/>
          </a:xfrm>
          <a:prstGeom prst="roundRect">
            <a:avLst/>
          </a:prstGeom>
          <a:solidFill>
            <a:srgbClr val="FF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lang="en-US">
                <a:solidFill>
                  <a:schemeClr val="tx1"/>
                </a:solidFill>
              </a:rPr>
              <a:t>Reference Run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8B0D2D-386A-2EA2-11EB-F5A8D5987E21}"/>
              </a:ext>
            </a:extLst>
          </p:cNvPr>
          <p:cNvSpPr/>
          <p:nvPr/>
        </p:nvSpPr>
        <p:spPr>
          <a:xfrm>
            <a:off x="1700967" y="5642110"/>
            <a:ext cx="9289278" cy="992649"/>
          </a:xfrm>
          <a:prstGeom prst="roundRect">
            <a:avLst>
              <a:gd name="adj" fmla="val 6990"/>
            </a:avLst>
          </a:prstGeom>
          <a:solidFill>
            <a:schemeClr val="tx2">
              <a:lumMod val="10000"/>
              <a:lumOff val="9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1" name="Picture 10" descr="Checklist icon">
            <a:extLst>
              <a:ext uri="{FF2B5EF4-FFF2-40B4-BE49-F238E27FC236}">
                <a16:creationId xmlns:a16="http://schemas.microsoft.com/office/drawing/2014/main" id="{523E0187-AAF1-54C4-1089-019F8FA340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8899" y="5755925"/>
            <a:ext cx="730606" cy="7306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B9A8FD-B097-3ED1-FA74-AF2446B5ECEF}"/>
              </a:ext>
            </a:extLst>
          </p:cNvPr>
          <p:cNvSpPr txBox="1"/>
          <p:nvPr/>
        </p:nvSpPr>
        <p:spPr>
          <a:xfrm>
            <a:off x="3148968" y="5849605"/>
            <a:ext cx="739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OpGuard</a:t>
            </a:r>
            <a:r>
              <a:rPr lang="en-US" sz="2800" b="1" dirty="0"/>
              <a:t> Aligns Diverse Runtime Executions</a:t>
            </a:r>
            <a:endParaRPr lang="en-US" sz="28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1D27B9-14BA-E2A7-594E-8A3CCE1BFB3B}"/>
              </a:ext>
            </a:extLst>
          </p:cNvPr>
          <p:cNvSpPr/>
          <p:nvPr/>
        </p:nvSpPr>
        <p:spPr>
          <a:xfrm>
            <a:off x="6604000" y="892618"/>
            <a:ext cx="5350933" cy="9926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03A853-4535-707D-2507-3447E7C9C8C4}"/>
              </a:ext>
            </a:extLst>
          </p:cNvPr>
          <p:cNvSpPr/>
          <p:nvPr/>
        </p:nvSpPr>
        <p:spPr>
          <a:xfrm>
            <a:off x="6604000" y="2079110"/>
            <a:ext cx="5350933" cy="116328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833883-FBE9-7744-3485-1FFF30051104}"/>
              </a:ext>
            </a:extLst>
          </p:cNvPr>
          <p:cNvSpPr/>
          <p:nvPr/>
        </p:nvSpPr>
        <p:spPr>
          <a:xfrm>
            <a:off x="6604000" y="4640053"/>
            <a:ext cx="5350933" cy="88511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8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0" grpId="0" animBg="1"/>
      <p:bldP spid="3" grpId="0"/>
      <p:bldP spid="8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Macintosh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OpGuard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Ziming</dc:creator>
  <cp:lastModifiedBy>Zhou, Ziming</cp:lastModifiedBy>
  <cp:revision>1</cp:revision>
  <dcterms:created xsi:type="dcterms:W3CDTF">2026-07-10T20:40:40Z</dcterms:created>
  <dcterms:modified xsi:type="dcterms:W3CDTF">2026-07-10T20:40:57Z</dcterms:modified>
</cp:coreProperties>
</file>